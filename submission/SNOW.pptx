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1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ptos"/>
              </a:rPr>
              <a:t>Click to move the slide</a:t>
            </a: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332A4E18-8607-453A-BB52-3D689334F73B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2722CA0-2680-4358-9E1F-C9B6FA526C2A}" type="slidenum">
              <a:rPr lang="en-US" sz="1200" b="0" strike="noStrike" spc="-1">
                <a:latin typeface="Times New Roman"/>
              </a:rPr>
              <a:t>3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24BEA61-6ED7-4478-91FF-98A8C3A2FAD9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FAB505F4-3396-420B-99B5-16A4FEFCF635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DBAD3F8-0152-4E90-8FE2-FD7D1E1420AD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E3BF180-D24A-401C-AA47-6876FCEA1563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96FBDC7-36F8-4724-9C2F-97CFA2CBE3E1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8E51563-6752-4AB4-B572-FA570F3E797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433C5885-D401-4AF7-BB04-D68E00E3B566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B2335428-3953-4C09-AE7E-E6ECDA32C983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DBAB2CA-2027-4AE2-9AF5-53B8C9D663BB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743F4F7-DC13-4881-87EA-1CB6E4764B83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49ACBEA-8338-48C5-B75B-0978AAA6AE7C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798B288A-882A-424C-886B-2561BF7B5CBA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7BC6876-249F-48CD-86C1-CFBA1CEC684C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1AC85A0-A24A-4C97-8A49-26B25325DEE8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DC400F7-577E-4CC5-AA73-A8885338E246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9E4DCAB-CE89-4938-85D6-4964F8A97569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3A76FBA-90FB-410D-AD69-1E958F7E5992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A8FB1AA-417E-4C31-9AF0-A25AE632E56E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F8A6352-988B-4F77-9A44-4404F5E597D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283B078-F7B8-4E85-B2CE-4C3474C3C256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D76EDC4-5596-40AA-8D38-A04F89793598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26E1189-53DE-4AA7-976C-19FA5B8EC679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0E28CCC-5BFA-4246-B4C0-471458619DE2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4DB5DFE-7B52-4BC5-95CA-4F4CDA87AC7A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 algn="ctr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rgbClr val="000000"/>
                </a:solidFill>
                <a:latin typeface="Aptos Display"/>
              </a:rPr>
              <a:t>Click to edit Master title style</a:t>
            </a:r>
            <a:endParaRPr lang="en-US" sz="60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lang="en-US"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rgbClr val="787878"/>
                </a:solidFill>
                <a:latin typeface="Aptos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B261746-D1AB-4C98-AC41-10E38BED5D3A}" type="slidenum">
              <a:rPr lang="en-US" sz="1200" b="0" strike="noStrike" spc="-1">
                <a:solidFill>
                  <a:srgbClr val="787878"/>
                </a:solidFill>
                <a:latin typeface="Apto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ptos"/>
              </a:rPr>
              <a:t>Click to edit Master text styles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Second level</a:t>
            </a: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Third level</a:t>
            </a:r>
          </a:p>
          <a:p>
            <a:pPr marL="1600200" lvl="3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Aptos"/>
              </a:rPr>
              <a:t>Fourth level</a:t>
            </a:r>
          </a:p>
          <a:p>
            <a:pPr marL="2057400" lvl="4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Aptos"/>
              </a:rPr>
              <a:t>Fifth level</a:t>
            </a:r>
          </a:p>
        </p:txBody>
      </p:sp>
      <p:sp>
        <p:nvSpPr>
          <p:cNvPr id="43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lang="en-US"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rgbClr val="787878"/>
                </a:solidFill>
                <a:latin typeface="Aptos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F278F9A-AC43-43A7-B408-6D552A4AE8BE}" type="slidenum">
              <a:rPr lang="en-US" sz="1200" b="0" strike="noStrike" spc="-1">
                <a:solidFill>
                  <a:srgbClr val="787878"/>
                </a:solidFill>
                <a:latin typeface="Apto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 algn="ctr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rgbClr val="000000"/>
                </a:solidFill>
                <a:latin typeface="Aptos Display"/>
              </a:rPr>
              <a:t>Tým SNOW</a:t>
            </a:r>
            <a:endParaRPr lang="en-US" sz="60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algn="ctr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Vladimír Mrkáček</a:t>
            </a:r>
            <a:endParaRPr lang="en-US" sz="2400" b="0" strike="noStrike" spc="-1"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Jakub Zupko</a:t>
            </a:r>
            <a:endParaRPr lang="en-US" sz="2400" b="0" strike="noStrike" spc="-1"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Adam Maleček</a:t>
            </a:r>
            <a:endParaRPr lang="en-US" sz="24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ptos Display"/>
              </a:rPr>
              <a:t>První pokusy</a:t>
            </a:r>
            <a:endParaRPr lang="en-US" sz="44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7000"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ptos"/>
              </a:rPr>
              <a:t>Výběr modelu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Logistická regrese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Mělká neuronová síť (1 skrytá vrstva)</a:t>
            </a: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ptos"/>
              </a:rPr>
              <a:t>Mutační funkce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Random šum do všech vah a biasu</a:t>
            </a: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ptos"/>
              </a:rPr>
              <a:t>Výstupem modelu jsou všechny 4 výstupy</a:t>
            </a:r>
          </a:p>
          <a:p>
            <a:pPr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ptos"/>
              </a:rPr>
              <a:t>Problémy: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Zatáčení i na jednoduché mapě i při vysokém počtu generací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Auta měli tendenci se zastavit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46BD4FD-C260-4209-B030-2F256540E0EF}" type="slidenum">
              <a:rPr/>
              <a:t>2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fld id="{2E23F4F9-FB3D-48FA-B149-03D4837C5D95}" type="datetime1">
              <a:rPr lang="en-US"/>
              <a:t>1/11/26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ptos Display"/>
              </a:rPr>
              <a:t>Úpravy modelu</a:t>
            </a:r>
            <a:endParaRPr lang="en-US" sz="44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ptos"/>
              </a:rPr>
              <a:t>Logistickou regresi jsme zahodili</a:t>
            </a: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ptos"/>
              </a:rPr>
              <a:t>Snažili jsme se vylepšit mělkou neuronovou síť (1 skrytá vrstva)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Jako vstupní parametr jsme zahrnuli rychlost (10 vstupů)</a:t>
            </a: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9 senzorů</a:t>
            </a: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Rychlost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Počet neuronů ve skryté vrstvě 10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Aktivační funkce jsme zkoušeli ReLU, ale i Leaky ReLU (zamezí vypnutí neuronu)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Na výstupní vrstvě (4 výstupy) jsme použili Sigmoid pro zachování 0 až 1</a:t>
            </a:r>
          </a:p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4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4C97022-2862-49D0-BEFB-BE9000A1261B}" type="slidenum">
              <a:rPr/>
              <a:t>3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fld id="{43B0FDCE-06CE-4E05-9AF7-823B6B189EF5}" type="datetime1">
              <a:rPr lang="en-US"/>
              <a:t>1/11/26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ptos Display"/>
              </a:rPr>
              <a:t>Úpravy trénování</a:t>
            </a:r>
            <a:endParaRPr lang="en-US" sz="44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ptos"/>
              </a:rPr>
              <a:t>Fitness funkce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Z počátku pouze jen distance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Přidání odměny za průměrnou rychlost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Pokusy </a:t>
            </a: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Penalizací za malou rychlost (nefungovalo - veliké zrychlení)</a:t>
            </a: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Odměna za “přežití” (nefungovalo – auta měla tendenci zastavovat)</a:t>
            </a: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ptos"/>
              </a:rPr>
              <a:t>Pokusy s postupným zvyšovaním elitismu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Po určitém počtu generací se snížil počet elitních aut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Nezaznamenali jsme veliký vliv na výsledek</a:t>
            </a:r>
          </a:p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4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638FF0C-5917-4ECA-951A-A18D2909C05E}" type="slidenum">
              <a:rPr/>
              <a:t>4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fld id="{81E6292D-C574-4138-B141-09589AB28969}" type="datetime1">
              <a:rPr lang="en-US"/>
              <a:t>1/11/26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ptos Display"/>
              </a:rPr>
              <a:t>Úpravy trénování</a:t>
            </a:r>
            <a:endParaRPr lang="en-US" sz="44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ptos"/>
              </a:rPr>
              <a:t>Mutační funkce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Místo random šumu použit Gaussovský šum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Mutuje se pouze náhodná podmnožina vah a biasu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S postupem generací se:</a:t>
            </a: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Snižuje počet vah a biasu, které se zmutují</a:t>
            </a: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Snižuje se směrodatná odchylka pro Gaussovský šum</a:t>
            </a:r>
          </a:p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4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9EE419-70B0-4364-865A-415135724160}" type="slidenum">
              <a:rPr/>
              <a:t>5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fld id="{211E8DED-5F0B-4FB6-B746-BD29419F587D}" type="datetime1">
              <a:rPr lang="en-US"/>
              <a:t>1/11/26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ptos Display"/>
              </a:rPr>
              <a:t>Finální model</a:t>
            </a:r>
            <a:endParaRPr lang="en-US" sz="44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 err="1">
                <a:solidFill>
                  <a:srgbClr val="000000"/>
                </a:solidFill>
                <a:latin typeface="Aptos"/>
              </a:rPr>
              <a:t>Hlubší</a:t>
            </a:r>
            <a:r>
              <a:rPr lang="en-US" sz="2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  <a:latin typeface="Aptos"/>
              </a:rPr>
              <a:t>neuronová</a:t>
            </a:r>
            <a:r>
              <a:rPr lang="en-US" sz="2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  <a:latin typeface="Aptos"/>
              </a:rPr>
              <a:t>síť</a:t>
            </a:r>
            <a:endParaRPr lang="en-US" sz="2800" b="0" strike="noStrike" spc="-1" dirty="0">
              <a:solidFill>
                <a:srgbClr val="000000"/>
              </a:solidFill>
              <a:latin typeface="Aptos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 err="1">
                <a:solidFill>
                  <a:srgbClr val="000000"/>
                </a:solidFill>
                <a:latin typeface="Aptos"/>
              </a:rPr>
              <a:t>Vstupy</a:t>
            </a:r>
            <a:r>
              <a:rPr lang="en-US" sz="2400" b="0" strike="noStrike" spc="-1" dirty="0">
                <a:solidFill>
                  <a:srgbClr val="000000"/>
                </a:solidFill>
                <a:latin typeface="Aptos"/>
              </a:rPr>
              <a:t> – 15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ptos"/>
              </a:rPr>
              <a:t>parametrů</a:t>
            </a:r>
            <a:endParaRPr lang="en-US" sz="2400" b="0" strike="noStrike" spc="-1" dirty="0">
              <a:solidFill>
                <a:srgbClr val="000000"/>
              </a:solidFill>
              <a:latin typeface="Aptos"/>
            </a:endParaRP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9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senzorů</a:t>
            </a:r>
            <a:endParaRPr lang="en-US" sz="2000" b="0" strike="noStrike" spc="-1" dirty="0">
              <a:solidFill>
                <a:srgbClr val="000000"/>
              </a:solidFill>
              <a:latin typeface="Aptos"/>
            </a:endParaRP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Rychlost</a:t>
            </a: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 (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normalizovaná</a:t>
            </a: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 –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dělená</a:t>
            </a: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maximální</a:t>
            </a: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rychlostí</a:t>
            </a: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)</a:t>
            </a: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Umělé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parametry</a:t>
            </a:r>
            <a:endParaRPr lang="en-US" sz="2000" b="0" strike="noStrike" spc="-1" dirty="0">
              <a:solidFill>
                <a:srgbClr val="000000"/>
              </a:solidFill>
              <a:latin typeface="Aptos"/>
            </a:endParaRPr>
          </a:p>
          <a:p>
            <a:pPr marL="1600200" lvl="3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Změna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rychlosti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vůči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předchozí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efektivní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zrychlování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/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brždění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)</a:t>
            </a:r>
          </a:p>
          <a:p>
            <a:pPr marL="1600200" lvl="3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Nejmenší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vzdálenost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k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překážkám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držení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minimální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vzdálenosti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od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překážek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)</a:t>
            </a:r>
          </a:p>
          <a:p>
            <a:pPr marL="1600200" lvl="3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Poměr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nejmenší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vzdálenosti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k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překážce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vůči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rychlosti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rovinky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+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zpomalení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do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zatáček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)</a:t>
            </a:r>
          </a:p>
          <a:p>
            <a:pPr marL="1600200" lvl="3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Držení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středu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bezpečný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odstup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)</a:t>
            </a:r>
          </a:p>
          <a:p>
            <a:pPr marL="1600200" lvl="3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Předchozí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stav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zatáčení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držení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směru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ptos"/>
              </a:rPr>
              <a:t>zatáčení</a:t>
            </a:r>
            <a:r>
              <a:rPr lang="en-US" sz="1800" b="0" strike="noStrike" spc="-1" dirty="0">
                <a:solidFill>
                  <a:srgbClr val="000000"/>
                </a:solidFill>
                <a:latin typeface="Aptos"/>
              </a:rPr>
              <a:t>)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7F0549-9E8B-4ACD-8AD3-EC95001A54EF}" type="slidenum">
              <a:rPr/>
              <a:t>6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fld id="{6F550E31-8C61-4BE1-B6EA-4C66BEC40B8D}" type="datetime1">
              <a:rPr lang="en-US"/>
              <a:t>1/11/26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4400" b="0" strike="noStrike" spc="-1" dirty="0" err="1">
                <a:solidFill>
                  <a:srgbClr val="000000"/>
                </a:solidFill>
                <a:latin typeface="Aptos Display"/>
              </a:rPr>
              <a:t>Finální</a:t>
            </a:r>
            <a:r>
              <a:rPr lang="en-US" sz="4400" b="0" strike="noStrike" spc="-1" dirty="0">
                <a:solidFill>
                  <a:srgbClr val="000000"/>
                </a:solidFill>
                <a:latin typeface="Aptos Display"/>
              </a:rPr>
              <a:t> model</a:t>
            </a:r>
            <a:endParaRPr lang="en-US" sz="4400" b="0" strike="noStrike" spc="-1" dirty="0">
              <a:solidFill>
                <a:srgbClr val="000000"/>
              </a:solidFill>
              <a:latin typeface="Aptos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 err="1">
                <a:solidFill>
                  <a:srgbClr val="000000"/>
                </a:solidFill>
                <a:latin typeface="Aptos"/>
              </a:rPr>
              <a:t>Hlubší</a:t>
            </a:r>
            <a:r>
              <a:rPr lang="en-US" sz="2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  <a:latin typeface="Aptos"/>
              </a:rPr>
              <a:t>neuronová</a:t>
            </a:r>
            <a:r>
              <a:rPr lang="en-US" sz="28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  <a:latin typeface="Aptos"/>
              </a:rPr>
              <a:t>síť</a:t>
            </a:r>
            <a:endParaRPr lang="en-US" sz="2800" b="0" strike="noStrike" spc="-1" dirty="0">
              <a:solidFill>
                <a:srgbClr val="000000"/>
              </a:solidFill>
              <a:latin typeface="Aptos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 err="1">
                <a:solidFill>
                  <a:srgbClr val="000000"/>
                </a:solidFill>
                <a:latin typeface="Aptos"/>
              </a:rPr>
              <a:t>Skrytá</a:t>
            </a:r>
            <a:r>
              <a:rPr lang="en-US" sz="24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ptos"/>
              </a:rPr>
              <a:t>vrstva</a:t>
            </a:r>
            <a:endParaRPr lang="en-US" sz="2400" b="0" strike="noStrike" spc="-1" dirty="0">
              <a:solidFill>
                <a:srgbClr val="000000"/>
              </a:solidFill>
              <a:latin typeface="Aptos"/>
            </a:endParaRP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10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neuronů</a:t>
            </a:r>
            <a:endParaRPr lang="en-US" sz="2000" b="0" strike="noStrike" spc="-1" dirty="0">
              <a:solidFill>
                <a:srgbClr val="000000"/>
              </a:solidFill>
              <a:latin typeface="Aptos"/>
            </a:endParaRP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Aktivační</a:t>
            </a: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funkce</a:t>
            </a: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ReLU</a:t>
            </a:r>
            <a:endParaRPr lang="en-US" sz="2000" b="0" strike="noStrike" spc="-1" dirty="0">
              <a:solidFill>
                <a:srgbClr val="000000"/>
              </a:solidFill>
              <a:latin typeface="Aptos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pc="-1" dirty="0" err="1">
                <a:solidFill>
                  <a:srgbClr val="000000"/>
                </a:solidFill>
                <a:latin typeface="Aptos"/>
              </a:rPr>
              <a:t>S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ptos"/>
              </a:rPr>
              <a:t>krytá</a:t>
            </a:r>
            <a:r>
              <a:rPr lang="en-US" sz="24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ptos"/>
              </a:rPr>
              <a:t>vrstva</a:t>
            </a:r>
            <a:endParaRPr lang="en-US" sz="2400" b="0" strike="noStrike" spc="-1" dirty="0">
              <a:solidFill>
                <a:srgbClr val="000000"/>
              </a:solidFill>
              <a:latin typeface="Aptos"/>
            </a:endParaRP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4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neurony</a:t>
            </a:r>
            <a:endParaRPr lang="en-US" sz="2000" b="0" strike="noStrike" spc="-1" dirty="0">
              <a:solidFill>
                <a:srgbClr val="000000"/>
              </a:solidFill>
              <a:latin typeface="Aptos"/>
            </a:endParaRP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Aktivační</a:t>
            </a: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funkce</a:t>
            </a: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ReLU</a:t>
            </a:r>
            <a:endParaRPr lang="en-US" sz="2000" b="0" strike="noStrike" spc="-1" dirty="0">
              <a:solidFill>
                <a:srgbClr val="000000"/>
              </a:solidFill>
              <a:latin typeface="Aptos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 err="1">
                <a:solidFill>
                  <a:srgbClr val="000000"/>
                </a:solidFill>
                <a:latin typeface="Aptos"/>
              </a:rPr>
              <a:t>Výstupní</a:t>
            </a:r>
            <a:r>
              <a:rPr lang="en-US" sz="24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Aptos"/>
              </a:rPr>
              <a:t>vrstva</a:t>
            </a:r>
            <a:endParaRPr lang="en-US" sz="2400" b="0" strike="noStrike" spc="-1" dirty="0">
              <a:solidFill>
                <a:srgbClr val="000000"/>
              </a:solidFill>
              <a:latin typeface="Aptos"/>
            </a:endParaRP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2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neurony</a:t>
            </a: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 (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spojení</a:t>
            </a: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plyn</a:t>
            </a: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/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brzda</a:t>
            </a: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 a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zatáčení</a:t>
            </a: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vlevo</a:t>
            </a: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/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vpravo</a:t>
            </a: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)</a:t>
            </a: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Aktivační</a:t>
            </a: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 </a:t>
            </a:r>
            <a:r>
              <a:rPr lang="en-US" sz="2000" b="0" strike="noStrike" spc="-1" dirty="0" err="1">
                <a:solidFill>
                  <a:srgbClr val="000000"/>
                </a:solidFill>
                <a:latin typeface="Aptos"/>
              </a:rPr>
              <a:t>funkce</a:t>
            </a:r>
            <a:r>
              <a:rPr lang="en-US" sz="2000" b="0" strike="noStrike" spc="-1" dirty="0">
                <a:solidFill>
                  <a:srgbClr val="000000"/>
                </a:solidFill>
                <a:latin typeface="Aptos"/>
              </a:rPr>
              <a:t> Sigmoid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6CAFE06-2F66-43C4-B2A4-C8EF64EE2168}" type="slidenum">
              <a:rPr/>
              <a:t>7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fld id="{7E0277FF-B1BD-423B-A7A2-4E8E338EA264}" type="datetime1">
              <a:rPr lang="en-US"/>
              <a:t>1/11/26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ptos Display"/>
              </a:rPr>
              <a:t>Neověřené postupy</a:t>
            </a:r>
            <a:endParaRPr lang="en-US" sz="44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ptos"/>
              </a:rPr>
              <a:t>Kvůli nedostatku generací jsme nevyzkoušeli plně: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Přidání šumu do vstupních senzorů</a:t>
            </a: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Zlepšení robustnosti modelu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Penalizaci za pomalou jízdu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Kombinace odměňování rychlosti vůči času</a:t>
            </a:r>
          </a:p>
          <a:p>
            <a:pPr marL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91DC615-B88D-4CC8-A0D8-EC3120C23890}" type="slidenum">
              <a:t>8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fld id="{B0F6D4EB-6713-4516-ACF9-D9921F0BC002}" type="datetime1">
              <a:rPr lang="en-US"/>
              <a:t>1/11/26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</TotalTime>
  <Words>366</Words>
  <Application>Microsoft Macintosh PowerPoint</Application>
  <PresentationFormat>Widescreen</PresentationFormat>
  <Paragraphs>84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Symbol</vt:lpstr>
      <vt:lpstr>Times New Roman</vt:lpstr>
      <vt:lpstr>Wingdings</vt:lpstr>
      <vt:lpstr>Office Theme</vt:lpstr>
      <vt:lpstr>Office Theme</vt:lpstr>
      <vt:lpstr>Tým SNOW</vt:lpstr>
      <vt:lpstr>První pokusy</vt:lpstr>
      <vt:lpstr>Úpravy modelu</vt:lpstr>
      <vt:lpstr>Úpravy trénování</vt:lpstr>
      <vt:lpstr>Úpravy trénování</vt:lpstr>
      <vt:lpstr>Finální model</vt:lpstr>
      <vt:lpstr>Finální model</vt:lpstr>
      <vt:lpstr>Neověřené postupy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Vladimír Mrkacek (CZ)</dc:creator>
  <dc:description/>
  <cp:lastModifiedBy>Vladimír Mrkacek (CZ)</cp:lastModifiedBy>
  <cp:revision>12</cp:revision>
  <dcterms:created xsi:type="dcterms:W3CDTF">2026-01-11T08:22:38Z</dcterms:created>
  <dcterms:modified xsi:type="dcterms:W3CDTF">2026-01-11T09:59:28Z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8</vt:i4>
  </property>
</Properties>
</file>